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1300" b="1" spc="4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628632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estratégico de </a:t>
            </a:r>
            <a:pPr indent="0" marL="0">
              <a:buNone/>
            </a:pPr>
            <a:r>
              <a:rPr lang="en-US" sz="5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paga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transformar a maior operação comercial invisível do food service paulista em uma máquina mensurável de aquisição de clientes — começando por pizzarias e hamburguerias.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 mi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596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/ MÊS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3756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37560" y="5596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2648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R$ 1.800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26480" y="5596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91540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15400" y="5596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EM TODO SP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desta reunião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demanda está e como o comprador decide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1091672" cy="0"/>
          </a:xfrm>
          <a:prstGeom prst="line">
            <a:avLst/>
          </a:prstGeom>
          <a:noFill/>
          <a:ln w="9525">
            <a:solidFill>
              <a:srgbClr val="E8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877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5877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26791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digital, maturidade e concorrência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9525">
            <a:solidFill>
              <a:srgbClr val="E8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838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4838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357530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objetivo, personas, palavras-chave, canais e os quatro pilares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11091672" cy="0"/>
          </a:xfrm>
          <a:prstGeom prst="line">
            <a:avLst/>
          </a:prstGeom>
          <a:noFill/>
          <a:ln w="9525">
            <a:solidFill>
              <a:srgbClr val="E8E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7997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3799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37760" y="447141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mídia, fases e mensuração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38344"/>
            <a:ext cx="11091672" cy="0"/>
          </a:xfrm>
          <a:prstGeom prst="line">
            <a:avLst/>
          </a:prstGeom>
          <a:noFill/>
          <a:ln w="9525">
            <a:solidFill>
              <a:srgbClr val="E8E5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760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276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53675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de cenários (investimento detalhado no plano de mídia)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934456"/>
            <a:ext cx="11091672" cy="0"/>
          </a:xfrm>
          <a:prstGeom prst="line">
            <a:avLst/>
          </a:prstGeom>
          <a:noFill/>
          <a:ln w="9525">
            <a:solidFill>
              <a:srgbClr val="E8E5E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MERCADO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food service paulista compra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semana</a:t>
            </a:r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decide por confiança, prazo e custo total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comprador não busca um item: busca um fornecedor que </a:t>
            </a:r>
            <a:pPr indent="0" marL="0">
              <a:buNone/>
            </a:pPr>
            <a:r>
              <a:rPr lang="en-US" sz="11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deixe a operação parar</a:t>
            </a:r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troca de distribuidor é decisão de risco — quem entrega previsibilidade e regras claras vence quem entrega só preço unitário.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587496" cy="2286000"/>
          </a:xfrm>
          <a:prstGeom prst="roundRect">
            <a:avLst>
              <a:gd name="adj" fmla="val 2000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Reposição semanal e urgente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recorrente, decidida no WhatsApp e por telefone. A janela entre perceber a falta e precisar do produto é de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horas, não semanas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0728" y="2423160"/>
            <a:ext cx="3587496" cy="2286000"/>
          </a:xfrm>
          <a:prstGeom prst="roundRect">
            <a:avLst>
              <a:gd name="adj" fmla="val 2000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ATIVA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Buscas com intenção comercial já existem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"Distribuidora food service", "fornecedor para pizzaria", "onde comprar batata McCain no atacado" — demanda que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captura com nicho + condições claras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52816" y="2423160"/>
            <a:ext cx="3587496" cy="2286000"/>
          </a:xfrm>
          <a:prstGeom prst="roundRect">
            <a:avLst>
              <a:gd name="adj" fmla="val 2000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SAZONALIDADE DECLARADA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Seg/ter fortes · fevereiro fraco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Percepções do cliente, ainda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validar com dados do ERP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ajustar verba por dia e horário.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ONDE ESTAMOS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operação comercial gigante, praticamente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invisível no digital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649474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 mi/mês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R$ 40 mi em meses fortes · margem 15–23%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62706" y="1783080"/>
            <a:ext cx="2649474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5.800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 + 4.000 inativos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76772" y="1783080"/>
            <a:ext cx="2649474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COMERCIAL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 reps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+ 36 telemarketing + ~100 veículos adesivados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90838" y="1783080"/>
            <a:ext cx="2649474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1.800+ itens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secos, refrigerados, congelados, bebidas, descartáveis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2649474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R$ 1.800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mínimo de R$ 350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62706" y="4023360"/>
            <a:ext cx="2649474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RECORRÊNCIA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cliente ativo vale ~R$ 7.700/mês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76772" y="4023360"/>
            <a:ext cx="2649474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frete grátis em todo SP · entrega seg–sáb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90838" y="4023360"/>
            <a:ext cx="2649474" cy="2084832"/>
          </a:xfrm>
          <a:prstGeom prst="roundRect">
            <a:avLst>
              <a:gd name="adj" fmla="val 2193"/>
            </a:avLst>
          </a:prstGeom>
          <a:solidFill>
            <a:srgbClr val="FBEBE9"/>
          </a:solidFill>
          <a:ln w="15875">
            <a:solidFill>
              <a:srgbClr val="E10600"/>
            </a:solidFill>
          </a:ln>
        </p:spPr>
        <p:txBody>
          <a:bodyPr wrap="square" lIns="1651" tIns="1651" rIns="1651" bIns="1651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PAGA</a:t>
            </a:r>
            <a:endParaRPr lang="en-US" sz="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histórico de tráfego pago para a distribuidora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DIAGNÓSTICO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presença digital hoje trabalha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</a:t>
            </a:r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marca distribuidora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87496" cy="3291840"/>
          </a:xfrm>
          <a:prstGeom prst="roundRect">
            <a:avLst>
              <a:gd name="adj" fmla="val 1389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· SITE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Institucional, desatualizado e sem conversão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 correto no título e catálogo por categorias, mas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formulários e contatos desativados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após histórico de invasões (~5 sites). 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Implicação: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site não pode ser destino de campanha — o WhatsApp vira o único ponto de conversão.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0728" y="1783080"/>
            <a:ext cx="3587496" cy="3291840"/>
          </a:xfrm>
          <a:prstGeom prst="roundRect">
            <a:avLst>
              <a:gd name="adj" fmla="val 1389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· INSTAGRAM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gestão, sem relevância — e com o link errado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engajamento, sem gestão profissional. O Linktree público do perfil é o de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cestas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(emporiomega100cestas). 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Implicação: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pesquisa a distribuidora encontra a marca de cestas — a confusão se confirma na prática.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52816" y="1783080"/>
            <a:ext cx="3587496" cy="3291840"/>
          </a:xfrm>
          <a:prstGeom prst="roundRect">
            <a:avLst>
              <a:gd name="adj" fmla="val 1389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· MARCA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 é lembrada pelas cestas, não pela distribuição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Cestas domina a associação de marca. Dados e públicos misturados contaminariam qualquer campanha. 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Implicação: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novas de Google e Meta, 100% separadas da Mega Cestas, são pré-requisito.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pública em ago/2026: mega100.com.br (title "Distribuidora de Alimentos para Food Service", páginas Quem Somos, Nosso Catálogo, Ser Cliente). Instagram inacessível para auditoria externa — diagnóstico conforme briefing.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MATURIDADE DIGITAL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no estágio V1: antes de escalar, é preciso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os indicadores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649474" cy="2651760"/>
          </a:xfrm>
          <a:prstGeom prst="roundRect">
            <a:avLst>
              <a:gd name="adj" fmla="val 1726"/>
            </a:avLst>
          </a:prstGeom>
          <a:solidFill>
            <a:srgbClr val="141416"/>
          </a:solidFill>
          <a:ln w="9525">
            <a:solidFill>
              <a:srgbClr val="14141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AQUI</a:t>
            </a:r>
            <a:endParaRPr lang="en-US" sz="8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Encontrar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C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histórico digital, sem tracking, sem CPL/CAC conhecidos. Missão: construir os primeiros indicadores reais.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62706" y="1920240"/>
            <a:ext cx="2649474" cy="2651760"/>
          </a:xfrm>
          <a:prstGeom prst="roundRect">
            <a:avLst>
              <a:gd name="adj" fmla="val 1726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Maturar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acompanhados com consistência, tracking consolidado, processos integrados.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6772" y="1920240"/>
            <a:ext cx="2649474" cy="2651760"/>
          </a:xfrm>
          <a:prstGeom prst="roundRect">
            <a:avLst>
              <a:gd name="adj" fmla="val 1726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Escalar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validado e previsível, dashboard consolidado, escala de investimento com segurança.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90838" y="1920240"/>
            <a:ext cx="2649474" cy="2651760"/>
          </a:xfrm>
          <a:prstGeom prst="roundRect">
            <a:avLst>
              <a:gd name="adj" fmla="val 1726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· Setorizar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diversificada, operação omnichannel, time segmentado por frente.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1091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prática: neste ciclo,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promessa de escala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entrega é validar custo por conversa, por lead qualificado, por cadastro e por primeiro pedido com verba controlada.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CONCORRÊNCIA — QUEM SÃO E QUEM ATENDEM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gigante nacional ao especialista de nicho: o mapa competitivo real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265176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Concorrente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Porte · desde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que atende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Canais e ações digitais observadas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Delly's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Nacional, 12 estados · ~190 mil clientes · +20 mil itens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Restaurantes, padarias, confeitarias, hotéis, supermercados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+ app próprio + televendas 0800; Instagram ativo com ofertas e receitas; parcerias de marca (Unilever, McCain, Heinz, Seara, Nestlé)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Líder em SP · desde 1995 · +20 mil estabelecimentos · 280 veículos refrigerados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Pizzarias, padarias, churrascarias, bares, cozinhas industriais, hospitais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Loja física + e-commerce; Instagram oficial ativo; rede de representantes com sites regionais próprios fazendo SEO local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Mega 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SP, MG, RJ · desde 2005 · ~20 mil clientes · 250 veículos · 600 mil entregas/ano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Pizzarias, padarias, churrascarias, hotéis, restaurantes, mercados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com catálogo; private label para pizzarias e padarias; presença social moderada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Apetito Foods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 capital · +10 anos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service com foco em proteínas e carnes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e Facebook ativos com ofertas; comunicação centrada em preço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Sansul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service geral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Curadoria e atendimento consultivo; presença digital discreta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Multifoods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 · desde 1983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service com foco em carnes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Presença digital mínima; força no relacionamento tradicional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 · Fênix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citados pelo cliente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presença digital relevante localizada — mapear na Ads Library na Fase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Atacadão · Assaí (indiretos)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nacionais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Autosserviço — o dono se desloca e transporta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Mídia massiva de varejo, sem atendimento food service dedicado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4476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verificação pública ago/2026 (sites, Instagram, LinkedIn e imprensa do setor). Auditoria de anúncios ativos (Meta Ads Library + termos de Search) entra como entregável da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CONCORRÊNCIA — O QUE FAZEM E O QUE DEIXAM ABERTO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Eles investem em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ninguém domina a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por nicho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87496" cy="2468880"/>
          </a:xfrm>
          <a:prstGeom prst="roundRect">
            <a:avLst>
              <a:gd name="adj" fmla="val 1852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 COM ELES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dos líderes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Delly's: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multicanal (app + e-commerce + 0800) e ofertas recorrentes. 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PMG: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 via representantes com sites próprios. 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G: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 como fidelizador de pizzarias e padarias.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0728" y="1783080"/>
            <a:ext cx="3587496" cy="2468880"/>
          </a:xfrm>
          <a:prstGeom prst="roundRect">
            <a:avLst>
              <a:gd name="adj" fmla="val 1852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NÃO COMPETIMOS AGORA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e escala nacional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E-commerce, app e 20 mil itens exigem investimento fora do escopo. Não disputamos a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autosserviço digital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neste ciclo — disputamos a conversa comercial.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52816" y="1783080"/>
            <a:ext cx="3587496" cy="2468880"/>
          </a:xfrm>
          <a:prstGeom prst="roundRect">
            <a:avLst>
              <a:gd name="adj" fmla="val 1852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 QUE NINGUÉM OCUPA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segmentada por nicho + condição explícita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player comunica de forma dedicada para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pizzaria e hamburgueria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regras claras de preço, mínimo, frete e prazo no anúncio. A comunicação deles é genérica: "tudo para food service".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463540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PARA A ESTRATÉGIA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os líderes empurram o comprador para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com cadastro e jornada longa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nós encurtamos: anúncio de oferta com regra completa → WhatsApp → atendimento humano em minutos. É a arma dos 36 telemarketing que os concorrentes não usam.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76772" y="4434840"/>
            <a:ext cx="5463540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ARGUMENTOS DE COMPARAÇÃO DIRETA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D+1 · Frete grátis SP · Mínimo R$ 350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entrega aos sábados · 1 pedido/1 nota · McCain, Bem Brasil, Heinz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GARGALOS E OPORTUNIDADES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maior risco não está na mídia: está no que acontece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do clique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 CRÍTICO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de atendimento de novos leads: 24–48h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digital esfria em horas. Clientes ativos são atendidos na hora, mas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contatos — o alvo da mídia — esperam até 2 dias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cadastro. Registrado como risco operacional; a decisão de SLA é do cliente.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76772" y="1783080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Atribuição frágil via WhatsApp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 reconhecida só pelo início da conversa. Sem devolutiva comercial (cadastro → pedido → valor),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CAC real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só custo por conversa.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ativa sem concorrência qualificada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Buscas por categoria e por marcas (McCain, Bem Brasil, Heinz, mussarela) prontas para captura com investimento baixo e intenção alta.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6772" y="4096512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do negócio favorece o CAC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R$ 1.800 com recompra semanal: a margem da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compra (R$ 270–414)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já cobre um CAC de até ~R$ 400. Cada cliente retido vale ~R$ 7.700/mês.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OBJETIVO ESTRATÉGICO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 aquisição digital como canal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mensurável</a:t>
            </a:r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novos clientes food service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conversas comerciais qualificadas no WhatsApp para o telemarketing — prioridade </a:t>
            </a:r>
            <a:pPr indent="0" marL="0">
              <a:buNone/>
            </a:pPr>
            <a:r>
              <a:rPr lang="en-US" sz="11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pizzarias e hamburguerias de SP</a:t>
            </a:r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construir em 90 dias os indicadores que sustentem a decisão de escalar.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649474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 01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ativa existe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ninguém a captura com nicho + condições claras.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62706" y="2377440"/>
            <a:ext cx="2649474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 02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semanal alto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paga o CAC já na primeira compra.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6772" y="2377440"/>
            <a:ext cx="2649474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 03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comercial pronta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36 telemarketing para atender o que a mídia gerar.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90838" y="2377440"/>
            <a:ext cx="2649474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 04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Estágio V1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verba controlada, foco em indicadores, escala só validada.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110916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global 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clientes ativos até dez/2026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(~840 ativações/mês) é meta da empresa, alimentada por todos os canais. Com verba de ~R$ 3.972/mês, a mídia contribui com uma fração validada — estimada em 12–35 primeiros pedidos/mês neste primeiro ciclo.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PERSONA 01 — HAMBURGUERIA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compra à noite, pelo celular, e não pode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ficar sem batata no sábado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834640" cy="4663440"/>
          </a:xfrm>
          <a:prstGeom prst="roundRect">
            <a:avLst>
              <a:gd name="adj" fmla="val 1613"/>
            </a:avLst>
          </a:prstGeom>
          <a:solidFill>
            <a:srgbClr val="141416"/>
          </a:solidFill>
          <a:ln/>
        </p:spPr>
        <p:txBody>
          <a:bodyPr wrap="square" lIns="2159" tIns="2159" rIns="2159" bIns="2159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Rafael, dono de hamburgueria artesanal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B9B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28–45 anos · opera a casa e decide as compras sozinho · resolve tudo pelo WhatsApp, geralmente após o fechamento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75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Semanal, ticket R$ 800–2.500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75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ITENS-CHAVE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Batata, pão, cheddar, molhos, proteínas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75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DECISÃO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· indicação de outros donos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75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VARIAÇÕES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Artesanal · dark kitchen · rede local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566160" y="1645920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DORES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Ruptura de insumo na sexta/sábado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(pico); 3–4 fornecedores para fechar o cardápio; entregas que atrasam sem aviso; tempo perdido cotando item a item.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76388" y="1645920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DESEJOS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fornecedor só que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resolva o cardápio inteiro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preço previsível, marcas que o cliente reconhece (McCain, Heinz) e reposição rápida.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66160" y="2999232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"Já tenho fornecedor e funciona" · "e se atrasar no meu pico?" · "nunca ouvi falar da Mega 100" · "o mínimo deve ser alto pro meu tamanho".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76388" y="2999232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E CONSUMO DE INFORMAÇÃO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subiu ou fornecedor falhou → pergunta em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WhatsApp de donos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pesquisa marca no Google → compara 2–3 cotações → testa com pedido pequeno.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6160" y="4352544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DE DECISÃO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confiabilidade de entrega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2º custo total do pedido · 3º marcas reconhecidas · 4º facilidade de pedir sem sair da operação.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676388" y="4352544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GATILHOS QUE CONVERTEM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hamburgueria com preço fechado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(batata + pão Artbread + cheddar + molhos Heinz), entrega D+1, mínimo R$ 350 — cabe num pedido de teste.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66160" y="5705856"/>
            <a:ext cx="8074152" cy="1133856"/>
          </a:xfrm>
          <a:prstGeom prst="roundRect">
            <a:avLst>
              <a:gd name="adj" fmla="val 4032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FALAMOS COM ELE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"fornecedor para hamburgueria", "batata mccain atacado".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criativo de kit com regras completas, tom de dono para dono.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"Chama no WhatsApp e recebe amanhã" — resposta em minutos, não em dias.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PERSONA 02 — PIZZARIA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Antônio sabe o preço do queijo de cor — e troca de fornecedor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confia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834640" cy="4663440"/>
          </a:xfrm>
          <a:prstGeom prst="roundRect">
            <a:avLst>
              <a:gd name="adj" fmla="val 1613"/>
            </a:avLst>
          </a:prstGeom>
          <a:solidFill>
            <a:srgbClr val="141416"/>
          </a:solidFill>
          <a:ln/>
        </p:spPr>
        <p:txBody>
          <a:bodyPr wrap="square" lIns="2159" tIns="2159" rIns="2159" bIns="2159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Antônio, dono / comprador de pizzaria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B9B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35–60 anos · negócio familiar ou rede local de delivery · a compra é decisão de margem: a mussarela é o maior custo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75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Semanal, ticket R$ 1.500–4.000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75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ITENS-CHAVE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Mussarela, calabresa, molhos, farinha, embalagens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75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DECISÃO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 e WhatsApp · vendedor de confiança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75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VARIAÇÕES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Bairro · premium · delivery · rede local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566160" y="1645920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DORES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da mussarela varia toda semana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come a margem; qualidade oscila entre lotes; mínimos e fretes altos; medo de ficar sem queijo no fim de semana.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76388" y="1645920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DESEJOS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Previsibilidade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preço estável, qualidade constante, entrega no dia certo. Fechar queijo + calabresa + molho + embalagem em um pedido e uma nota.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66160" y="2999232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"Meu fornecedor me atende há 10 anos" · "atendem minha cidade?" · "esse preço vale para quantas caixas?" · "qual a marca desse queijo?".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76388" y="2999232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E CONSUMO DE INFORMAÇÃO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Reajuste do queijo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falha de entrega → liga para 2–3 distribuidores → pede tabela no WhatsApp → compara preço/kg → testa em semana média.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ligação ainda decide.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6160" y="4352544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DE DECISÃO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preço/kg da mussarela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regra de volume clara · 2º constância de qualidade · 3º pontualidade · 4º completar o pedido no mesmo fornecedor.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676388" y="4352544"/>
            <a:ext cx="3963924" cy="1225296"/>
          </a:xfrm>
          <a:prstGeom prst="roundRect">
            <a:avLst>
              <a:gd name="adj" fmla="val 373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GATILHOS QUE CONVERTEM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Mussarela com preço competitivo e regra visível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("a partir de X caixas"), frete grátis SP, entrega D+1 — e complementos no mesmo caminhão.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66160" y="5705856"/>
            <a:ext cx="8074152" cy="1133856"/>
          </a:xfrm>
          <a:prstGeom prst="roundRect">
            <a:avLst>
              <a:gd name="adj" fmla="val 4032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FALAMOS COM ELE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"distribuidora de mussarela", "fornecedor para pizzaria".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criativo de preço do queijo com regra de volume explícita, prova de entrega. </a:t>
            </a:r>
            <a:pPr algn="l" indent="0" marL="0">
              <a:lnSpc>
                <a:spcPct val="112000"/>
              </a:lnSpc>
              <a:buNone/>
            </a:pPr>
            <a:r>
              <a:rPr lang="en-US" sz="88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</a:t>
            </a:r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"Peça a tabela da semana no WhatsApp" — e o telemarketing liga em seguida.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ESTRATÉGIA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Capturar quem já procura. Provocar quem ainda não conhece. </a:t>
            </a:r>
            <a:pPr indent="0" marL="0">
              <a:buNone/>
            </a:pPr>
            <a:r>
              <a:rPr lang="en-US" sz="2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Rastrear tudo.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</a:t>
            </a:r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captura a demanda existente por categoria e marcas. </a:t>
            </a:r>
            <a:pPr indent="0" marL="0">
              <a:buNone/>
            </a:pPr>
            <a:r>
              <a:rPr lang="en-US" sz="11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gera demanda segmentada por nicho, levando ofertas do jornal direto ao WhatsApp. Toda conversa nasce com origem identificada e o telemarketing fecha o ciclo com a devolutiva comercial.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3212" y="2697480"/>
            <a:ext cx="2011680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por intenção · Meta por nicho e oferta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37460" y="32004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20924" y="2697480"/>
            <a:ext cx="2011680" cy="1600200"/>
          </a:xfrm>
          <a:prstGeom prst="roundRect">
            <a:avLst>
              <a:gd name="adj" fmla="val 2857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WhatsApp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pré-preenchida com código de origem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5172" y="32004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8636" y="2697480"/>
            <a:ext cx="2011680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Telemarketing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atendimento, qualificação e cadastro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72884" y="32004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56348" y="2697480"/>
            <a:ext cx="2011680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pedido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D+1 após cadastro aprovado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40596" y="32004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24060" y="2697480"/>
            <a:ext cx="2011680" cy="1600200"/>
          </a:xfrm>
          <a:prstGeom prst="roundRect">
            <a:avLst>
              <a:gd name="adj" fmla="val 2857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Recompra semanal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 comercial + remarketing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essa tese: com ticket de R$ 1.800 e compra semanal,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conversão de poucos clientes já paga toda a operação de mídia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 desafio não é volume, é qualificação e velocidade de atendimento.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SELEÇÃO DE CANAIS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canais contratados fazem o trabalho — o resto é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sinalizada</a:t>
            </a:r>
            <a:endParaRPr lang="en-US" sz="2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2377440"/>
                <a:gridCol w="758952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· etapa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Ads · Search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Capturar demanda ativa por categoria e marcas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+ P2 · intenção comercial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Ads · CTWA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Gerar demanda por nicho com ofertas do jornal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+ P2 · consideração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· Remarketing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Reimpactar engajados e conversas sem pedido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+ P2 · comparação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comercial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único de conversão das campanhas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OPERAÇÃO DO CLIENTE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page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alternativo com formulário e tracking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10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RECOMENDAÇÃO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orgânico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Prova social e sustentação da marca distribuidora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10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RECOMENDAÇÃO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· reativação de 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Retenção e reativação dos 4.000 inativos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10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RECOMENDAÇÃO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01 · AQUISIÇÃO — GOOGLE ADS · CONTRATADO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duas campanhas Search para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colher a demanda que já existe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CATEGORIA E NICHO — R$ 1.300/MÊS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grupos de anúncio, um por intenção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Genérico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(distribuidora/atacadista food service) ·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Pizzaria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Hamburgueria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Cada grupo com anúncio e oferta do próprio nicho — quem busca "para pizzaria" vê mussarela, não batata.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76772" y="1783080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MARCAS E PRODUTOS — R$ 880/MÊS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 de entrada por produto reconhecido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por marca (McCain, Bem Brasil, Heinz, Artbread) e por produto (mussarela, cheddar, pão, calabresa). CPC menor, intenção específica: o anúncio responde com preço, regra de volume e entrega D+1.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Correspondência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exata + frase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(sem ampla na largada, sem DSA com o site fora do jogo) · RSA com condição logística no título ("Entrega em 24h · Frete grátis SP") · extensões de chamada, local e frases de destaque · lances manuais →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CPA-alvo após ~30 conversões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6772" y="4096512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DE GESTÃO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dos termos de pesquisa e negativação (vagas, receitas, varejo, cesta básica) ·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Quinzenal: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variações de RSA ·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Mensal: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realocação entre grupos por custo por lead qualificado e leitura por cidade.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01 · AQUISIÇÃO — PALAVRAS-CHAVE DO GOOGLE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clusters de busca, priorizados por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 comercial</a:t>
            </a:r>
            <a:endParaRPr lang="en-US" sz="2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77640"/>
                <a:gridCol w="1554480"/>
                <a:gridCol w="3639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Termos-exemplo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Intenção · persona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Papel na estratégia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Categoria (prioridade máxima)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distribuidora food service · atacadista food service · distribuidora de alimentos para restaurante · distribuidora de alimentos sp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 · P1+P2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Fundo de funil puro: quem busca já quer um fornecedor. C1, correspondência exata + frase.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Nicho (prioridade máxima)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fornecedor para pizzaria · distribuidora para pizzaria · fornecedor para hamburgueria · distribuidora para hamburgueria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 · P1 ou P2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Grupos separados por nicho em C1, com anúncio e oferta próprios.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Marca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batata mccain atacado · onde comprar batata mccain · distribuidor bem brasil · fornecedor heinz · pão artbread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Comercial · P1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 de entrada por produto reconhecido (C2): CPC menor, intenção específica.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Produto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mussarela atacado preço · distribuidora de mussarela · cheddar fatiado atacado · calabresa atacado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Comercial · P2+P1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 a dor de custo em C2 — anúncio responde com regra de volume clara.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Local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distribuidora de alimentos em campinas · fornecedor food service sorocaba · distribuidora litoral sp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 · regiões-alvo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Ativado por onda conforme regiões prioritárias do cliente.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064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Negativas desde o dia 1: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vaga/emprego · receita/como fazer · curso · cesta básica · unidade/varejo · mercado livre — revisão semanal dos termos de pesquisa. Correspondência exata + frase (sem ampla, sem DSA com o site fora do jogo). Volumes e CPCs validados no Planejador de Palavras-Chave na Fase 1 — a estrutura acima é a hipótese de partida.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01 · AQUISIÇÃO — META ADS E GEOSSEGMENTAÇÃO · CONTRATADO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gerar demanda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 a nicho</a:t>
            </a:r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oferta do jornal no WhatsApp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63540" cy="2103120"/>
          </a:xfrm>
          <a:prstGeom prst="roundRect">
            <a:avLst>
              <a:gd name="adj" fmla="val 2174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CTWA HAMBURGUERIAS — R$ 700/MÊS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fechado que resolve o cardápio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Criativos de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batata + pão Artbread + cheddar + molhos Heinz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preço e regras completas. Interesses de food service e pequenos negócios + geo SP. Formatos 1:1, 4:5 e 9:16 do Ítalo com nosso briefing semanal.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76772" y="1783080"/>
            <a:ext cx="5463540" cy="2103120"/>
          </a:xfrm>
          <a:prstGeom prst="roundRect">
            <a:avLst>
              <a:gd name="adj" fmla="val 2174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CTWA PIZZARIAS — R$ 700/MÊS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Mussarela como isca de troca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Criativo de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do queijo com regra de volume visível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("a partir de X caixas") + prova de entrega. A conversa abre com a tabela da semana — o argumento que faz o dono de pizzaria cotar.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4050792"/>
            <a:ext cx="5463540" cy="2103120"/>
          </a:xfrm>
          <a:prstGeom prst="roundRect">
            <a:avLst>
              <a:gd name="adj" fmla="val 2174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DE TESTES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variações de criativo por campanha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teste A/B quinzenal (preço × prazo × variedade), renovação de oferta a cada edição do jornal, pausa imediata quando Victor avisar fim de estoque/condição.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6772" y="4050792"/>
            <a:ext cx="5463540" cy="2103120"/>
          </a:xfrm>
          <a:prstGeom prst="roundRect">
            <a:avLst>
              <a:gd name="adj" fmla="val 2174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GEOSSEGMENTAÇÃO EM ONDAS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inteiro na largada →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ondas de prioridade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 cidades pouco atendidas (lista do cliente): ajuste de lance por região + cluster local de Search onda a onda. Leitura mensal de custo por conversa por cidade decide a próxima onda.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da mídia no pilar: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novas separadas da Mega Cestas · pesquisa no Planejador de Palavras-Chave · redação de todos os anúncios · briefings criativos ao Ítalo (formato, quantidade, hipótese, CTA) · gestão diária de verba e lances.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02 · ENGAJAMENTO 1/3 — FUNDAÇÃO DO PERFIL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postar: o perfil precisa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o que o anúncio promete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clica no anúncio confere o Instagram antes de chamar. Hoje o perfil nega a promessa. Checklist de correção — </a:t>
            </a:r>
            <a:pPr indent="0" marL="0">
              <a:buNone/>
            </a:pPr>
            <a:r>
              <a:rPr lang="en-US" sz="11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do cliente, semana 1, com nosso roteiro</a:t>
            </a:r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3587496" cy="1965960"/>
          </a:xfrm>
          <a:prstGeom prst="roundRect">
            <a:avLst>
              <a:gd name="adj" fmla="val 2326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IDENTIDADE E BIO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Reposicionar em uma linha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"Distribuidora food service · todo o estado de SP · entrega em 24h · pedido mínimo R$ 350". Nome de exibição com "distribuidora"; categoria de perfil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atacadista/distribuidora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loja.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0728" y="2240280"/>
            <a:ext cx="3587496" cy="1965960"/>
          </a:xfrm>
          <a:prstGeom prst="roundRect">
            <a:avLst>
              <a:gd name="adj" fmla="val 2326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LINK E CONTATO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clique até a conversa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direto para o WhatsApp comercial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código de origem "perfil" — substituindo o Linktree de cestas (que segue na conta da Mega Cestas). Botões ativos: WhatsApp, telefone, endereço.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52816" y="2240280"/>
            <a:ext cx="3587496" cy="1965960"/>
          </a:xfrm>
          <a:prstGeom prst="roundRect">
            <a:avLst>
              <a:gd name="adj" fmla="val 2326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DESTAQUES FIXOS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respostas que o comprador procura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Comprar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(cadastro → pedido → entrega) ·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Ofertas da Semana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(jornal) ·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e Entrega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(mapa SP, prazos) ·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(McCain, Bem Brasil, Heinz, Artbread).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4370832"/>
            <a:ext cx="5463540" cy="1463040"/>
          </a:xfrm>
          <a:prstGeom prst="roundRect">
            <a:avLst>
              <a:gd name="adj" fmla="val 3125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PADRONIZAÇÃO VISUAL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de post e stories (grid de oferta, card de prova, capa de destaque) com identidade da distribuidora —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separada visualmente da Mega Cestas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não realimentar a confusão de marca.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76772" y="4370832"/>
            <a:ext cx="5463540" cy="1463040"/>
          </a:xfrm>
          <a:prstGeom prst="roundRect">
            <a:avLst>
              <a:gd name="adj" fmla="val 3125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VEM ANTES DE QUALQUER CONTEÚDO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incoerente derruba a conversão da mídia paga: o clique que não confia, não chama. Esta fundação é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pré-requisito do lançamento das campanhas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(Fase 1), não uma melhoria estética.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02 · ENGAJAMENTO 2/3 — LINHAS EDITORIAIS E CADÊNCIA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linhas editoriais, uma cadência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possível de sustentar</a:t>
            </a:r>
            <a:endParaRPr lang="en-US" sz="2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023360"/>
                <a:gridCol w="1920240"/>
                <a:gridCol w="3456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mostra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Formato · cadência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 no funil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PROVA (confiança)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Entregas reais chegando no cliente, frota saindo do CD, separação do pedido, time de rota, entrega de sábado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Reels + stories · 2×/semana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Responde à maior objeção ("e se atrasar?") com evidência, não com promessa. É o conteúdo que o remarketing reaproveita.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OFERTA (conversão)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Jornal da semana adaptado: card por produto com preço e regra completa, stories com sticker de link para o WhatsApp, reel "chegou hoje no CD"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+ stories · 2×/semana (ritmo do jornal)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 o seguidor em conversa comercial. Toda arte com CTA padrão: "Chama no WhatsApp e recebe amanhã".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NICHO (autoridade)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por porção de batata, rendimento real da caixa de mussarela, comparativo de pães, checklist de compra semanal da pizzaria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Carrossel · 1×/semana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 que o dono salva e compartilha no grupo de donos — alcança quem a mídia ainda não pagou para alcançar.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25780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produção: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nunca sem regra visível · rosto e nome nos bastidores (pessoas engajam 2–3× mais que produto) · legenda curta com pergunta · stories de oferta sempre com sticker de link. A mídia entrega o briefing semanal (temas, produtos, hipóteses); produção e publicação seguem com o cliente — gestão profissional de social media é contratação adicional.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02 · ENGAJAMENTO 3/3 — PROVA SOCIAL E PONTE COM A MÍDIA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engajamento não é vaidade: ele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abastece os públicos</a:t>
            </a:r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mídia paga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DEPOIMENTOS · CLIENTE + MÍDIA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depoimentos por mês, coletados pelos representantes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de 3 perguntas ("há quanto tempo compra? o que mudou? o que diria para quem tem receio?"), colhido em visita ou WhatsApp com autorização. Card com foto do estabelecimento + vídeo curto.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 criativo de remarketing e conteúdo do perfil.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76772" y="1783080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E COMUNIDADE · CLIENTE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Repostar quem já compra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que marcam a distribuidora ao receber o pedido são repostados (com autorização) — prova social gratuita e recorrente. Comentários e directs respondidos em até 4h úteis, redirecionando ao WhatsApp comercial.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COM A MÍDIA · CONTRATADO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Públicos que o engajamento cria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Envolvimento com perfil (90 dias)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 de vídeo 75%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envolvimento com anúncios → públicos do C5 e, adiante, base dos lookalikes. Quanto melhor o orgânico, mais barato o remarketing.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6772" y="4096512"/>
            <a:ext cx="5463540" cy="2148840"/>
          </a:xfrm>
          <a:prstGeom prst="roundRect">
            <a:avLst>
              <a:gd name="adj" fmla="val 2128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DO PILAR · LEITURA MENSAL NOSSA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acompanhamos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Acompanhamos: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cliques no link do perfil, conversas originadas do perfil, salvamentos e compartilhamentos da linha Nicho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tamanho dos públicos de engajamento.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03 · MONETIZAÇÃO 1/2 — A JORNADA DE CONVERSÃO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Monetização: entre o clique e o pedido há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fricções</a:t>
            </a:r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cada uma com dono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26364" y="1828800"/>
            <a:ext cx="2514600" cy="1691640"/>
          </a:xfrm>
          <a:prstGeom prst="roundRect">
            <a:avLst>
              <a:gd name="adj" fmla="val 2703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Criativo com regra completa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produto, marca, preço, mínimo, validade, região — nada de preço sem regra · Mídia + Ítalo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22676" y="2377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33572" y="1828800"/>
            <a:ext cx="2514600" cy="1691640"/>
          </a:xfrm>
          <a:prstGeom prst="roundRect">
            <a:avLst>
              <a:gd name="adj" fmla="val 2703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WhatsApp com origem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pré-preenchida com código por campanha/segmento · Mídia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29884" y="2377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40780" y="1828800"/>
            <a:ext cx="2514600" cy="1691640"/>
          </a:xfrm>
          <a:prstGeom prst="roundRect">
            <a:avLst>
              <a:gd name="adj" fmla="val 2703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Atendimento rápido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de resposta + script de qualificação · Telemarketing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37092" y="2377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47988" y="1828800"/>
            <a:ext cx="2514600" cy="1691640"/>
          </a:xfrm>
          <a:prstGeom prst="roundRect">
            <a:avLst>
              <a:gd name="adj" fmla="val 2703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Cadastro sem atrito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documentos, aviso de prazo, follow-up em 24h · Cliente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5463540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CONVERSÃO MORRE HOJE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leads esperando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24–48h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atendimento (fricção 3) e ofertas sem regra visível gerando conversa que não fecha (fricção 1). As duas são endereçadas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lançamento das campanhas.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76772" y="3794760"/>
            <a:ext cx="5463540" cy="1600200"/>
          </a:xfrm>
          <a:prstGeom prst="roundRect">
            <a:avLst>
              <a:gd name="adj" fmla="val 2857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NA FASE 1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respostas-padrão com o telemarketing · calendário semanal de ofertas com Victor · acordo de devolutiva (lead → cadastro → pedido → valor) que transforma conversa em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mensurável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03 · MONETIZAÇÃO 2/2 — A CONVERSA QUE FECHA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"oi" ao cadastro: script, respostas prontas e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com hora marcada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63540" cy="1783080"/>
          </a:xfrm>
          <a:prstGeom prst="roundRect">
            <a:avLst>
              <a:gd name="adj" fmla="val 2564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DE QUALIFICAÇÃO · 5 PERGUNTAS DO TELEMARKETING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Qualificar em 2 minutos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Qual o seu negócio? · 2 · Cidade? · 3 · Volume de compra semanal? · 4 · Fornecedor atual? · 5 · Produto que motivou o contato? — a resposta define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apresentada e prioridade de cadastro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76772" y="1783080"/>
            <a:ext cx="5463540" cy="1783080"/>
          </a:xfrm>
          <a:prstGeom prst="roundRect">
            <a:avLst>
              <a:gd name="adj" fmla="val 2564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SEM ATRITO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na conversa, prazo avisado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mínimos na própria conversa · aviso claro do prazo (aprovação em até 48h, entrega em 24h após aprovar) ·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em 24h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o lead não enviar documentos · recontato em 72h se a conversa esfriar.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3587496" cy="1463040"/>
          </a:xfrm>
          <a:prstGeom prst="roundRect">
            <a:avLst>
              <a:gd name="adj" fmla="val 3125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OBJEÇÃO → RESPOSTA PRONTA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"Atendem minha cidade?"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frete grátis em todo SP; condições da sua região na hora (variação a partir de ~380 km).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0728" y="3749040"/>
            <a:ext cx="3587496" cy="1463040"/>
          </a:xfrm>
          <a:prstGeom prst="roundRect">
            <a:avLst>
              <a:gd name="adj" fmla="val 3125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OBJEÇÃO → RESPOSTA PRONTA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o mínimo?"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R$ 350 por pedido — cabe numa compra de teste antes de trocar de fornecedor.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52816" y="3749040"/>
            <a:ext cx="3587496" cy="1463040"/>
          </a:xfrm>
          <a:prstGeom prst="roundRect">
            <a:avLst>
              <a:gd name="adj" fmla="val 3125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OBJEÇÃO → RESPOSTA PRONTA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"Chega quando?"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cadastrado: pedido até 18h59 chega amanhã. Novo: entrega em até 24h após aprovar o cadastro.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mídia desenha o script, as respostas e o fluxo de follow-up; a operação do atendimento é do cliente. O SLA acordado vira indicador acompanhado no relatório mensal.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04 · RETENÇÃO 1/2 — O QUE A MÍDIA ENTREGA (CONTRATADO)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Retenção: cada cliente vale ~R$ 7.700/mês —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perder um custa 20 aquisições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63540" cy="2011680"/>
          </a:xfrm>
          <a:prstGeom prst="roundRect">
            <a:avLst>
              <a:gd name="adj" fmla="val 2273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· REMARKETING DE RECUPERAÇÃO — R$ 392/MÊS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segunda chance mais barata do funil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sem pedido (7 dias)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recebe a oferta da semana + depoimento;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sem compra (30 dias)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recebe lembrete do mínimo baixo + entrega D+1. Frequência ≤2 impressões/dia, criativos renovados com o jornal.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76772" y="1783080"/>
            <a:ext cx="5463540" cy="2011680"/>
          </a:xfrm>
          <a:prstGeom prst="roundRect">
            <a:avLst>
              <a:gd name="adj" fmla="val 2273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PÚBLICOS QUE ALIMENTAM O C5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Construídos desde o dia 1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Envolvimento com perfil e anúncios (90 dias) · visualização de vídeo 75% · listas de conversas por status, atualizadas pela devolutiva do telemarketing.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melhor a devolutiva, mais preciso o remarketing.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1091672" cy="1371600"/>
          </a:xfrm>
          <a:prstGeom prst="roundRect">
            <a:avLst>
              <a:gd name="adj" fmla="val 3333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MATEMÁTICA QUE JUSTIFICA O PILAR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R$ 1.800 × ~4,3 compras/mês ⇒ </a:t>
            </a:r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~R$ 7.700/mês por cliente ativo</a:t>
            </a:r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Recuperar uma conversa esfriada custa centavos por impressão; conquistar um cliente novo custa R$ 124–331 de CAC projetado. Reter e recuperar é sempre o investimento de maior retorno do funil.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04 · RETENÇÃO 2/2 — RECOMENDAÇÕES À OPERAÇÃO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movimentos do cliente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multiplicam</a:t>
            </a:r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efeito da mídia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87496" cy="2651760"/>
          </a:xfrm>
          <a:prstGeom prst="roundRect">
            <a:avLst>
              <a:gd name="adj" fmla="val 1724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· CONDICIONADA A LGPD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Reativar os 4.000 inativos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em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personalizado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(upload seguro + base legal validada) com oferta de retorno dedicada; espelho em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aquisição. Telemarketing aborda quem responder. Reativar custa fração de conquistar — e conta para a meta de 10 mil ativos.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0728" y="1783080"/>
            <a:ext cx="3587496" cy="2651760"/>
          </a:xfrm>
          <a:prstGeom prst="roundRect">
            <a:avLst>
              <a:gd name="adj" fmla="val 1724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· OPERAÇÃO COMERCIAL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Recompra assistida por dia de reposição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semanal por nicho: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pizzaria repõe queijo no início da semana; hamburgueria fecha o kit antes do fim de semana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sazonalidade declarada (seg/ter fortes) vira agenda de abordagem do telemarketing, validada com o ERP.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52816" y="1783080"/>
            <a:ext cx="3587496" cy="2651760"/>
          </a:xfrm>
          <a:prstGeom prst="roundRect">
            <a:avLst>
              <a:gd name="adj" fmla="val 1724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· PRÓXIMO CICLO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Jornal com opt-in + CRM leve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transmissão oficial do jornal com consentimento (opt-in registrado) · à frente, CRM conectando WhatsApp → ERP para régua de recompra e </a:t>
            </a:r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de cliente esfriando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(sem pedido há 3+ semanas dispara abordagem).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10916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destes movimentos está no escopo contratado — entram como recomendação priorizada. Se executados, a mídia potencializa cada um com públicos, criativos e leitura de dados.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PLANO DE MÍDIA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R$ 3.972/mês distribuídos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intenção é maior</a:t>
            </a:r>
            <a:endParaRPr lang="en-US" sz="2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1188720"/>
                <a:gridCol w="295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Campanha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Verba/mês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· Google Search — Categoria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"distribuidora food service", "fornecedor para pizzaria/hamburgueria" — grupos por nicho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capturar demanda de fundo de funil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· Google Search — Marcas &amp; Produtos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McCain, Bem Brasil, Heinz, mussarela, cheddar, pão de hambúrguer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R$ 880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 de entrada por produto reconhecido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 · Meta CTWA — Hamburguerias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kit batata + pão + cheddar + molhos, ofertas do jornal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gerar demanda no nicho prioritário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 · Meta CTWA — Pizzarias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mussarela como isca + itens complementares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gerar demanda no nicho prioritário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C5 · Meta — Remarketing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engajados e conversas sem pedido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B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recuperar consideração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55% · Meta 45% na largada; realocação mensal por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lead qualificado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Teto total de R$ 10 mil/mês (fee R$ 6.027,59 + mídia R$ 3.972,41). Negativações contínuas: vagas/emprego, receitas, consumidor final, varejo, cestas básicas. Distribuição por dia/horário só muda após validação com dados de campanha + ERP.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PLANO DE EXECUÇÃO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fases em 90 dias — cada uma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</a:t>
            </a:r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seguinte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086661" cy="3108960"/>
          </a:xfrm>
          <a:prstGeom prst="roundRect">
            <a:avLst>
              <a:gd name="adj" fmla="val 2191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01 · Estruturar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1–2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novas separadas da Mega Cestas · GA4 + GTM + conversões · WhatsApp oficial com rastreio · kit de criativos com Ítalo · ofertas com Victor · SLA e planilha de devolutiva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99893" y="1783080"/>
            <a:ext cx="2086661" cy="3108960"/>
          </a:xfrm>
          <a:prstGeom prst="roundRect">
            <a:avLst>
              <a:gd name="adj" fmla="val 219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02 · Adquirir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3–6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C1–C4 · pesquisa de termos + negativação ativa · primeiras leituras de custo por conversa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51146" y="1783080"/>
            <a:ext cx="2086661" cy="3108960"/>
          </a:xfrm>
          <a:prstGeom prst="roundRect">
            <a:avLst>
              <a:gd name="adj" fmla="val 219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· Converter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5–8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semanal de feedback de qualidade · ajuste de ofertas, criativos e públicos · ativação do remarketing (C5)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02398" y="1783080"/>
            <a:ext cx="2086661" cy="3108960"/>
          </a:xfrm>
          <a:prstGeom prst="roundRect">
            <a:avLst>
              <a:gd name="adj" fmla="val 219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04 · Otimizar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9–12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Realocação por CPL qualificado e custo por cadastro · lookalikes se base viável (LGPD) · consolidação dos indicadores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53651" y="1783080"/>
            <a:ext cx="2086661" cy="3108960"/>
          </a:xfrm>
          <a:prstGeom prst="roundRect">
            <a:avLst>
              <a:gd name="adj" fmla="val 2191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651" tIns="1651" rIns="1651" bIns="1651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05 · Escalar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4+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Condicionada a CAC validado e à aprovação de verba adicional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das dependências: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contas separadas e tracking não há mensuração → sem volume não há leitura de qualidade → sem devolutiva não há otimização real → sem indicadores validados não há escala responsável. Cronograma proposto — a validar nesta reunião.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MENSURAÇÃO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indicador não é a conversa: é o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até a recompra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783080"/>
            <a:ext cx="6583680" cy="384048"/>
          </a:xfrm>
          <a:prstGeom prst="rect">
            <a:avLst/>
          </a:prstGeom>
          <a:solidFill>
            <a:srgbClr val="141416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R$ 3.972/mês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64040" y="1783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 de mídia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Conversas iniciadas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350008"/>
            <a:ext cx="5530291" cy="384048"/>
          </a:xfrm>
          <a:prstGeom prst="rect">
            <a:avLst/>
          </a:prstGeom>
          <a:solidFill>
            <a:srgbClr val="141416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conversa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0651" y="23500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mede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916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qualificados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916936"/>
            <a:ext cx="4081882" cy="384048"/>
          </a:xfrm>
          <a:prstGeom prst="rect">
            <a:avLst/>
          </a:prstGeom>
          <a:solidFill>
            <a:srgbClr val="141416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lead qualificado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62242" y="29169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telemarketing devolve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4838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 aprovados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483864"/>
            <a:ext cx="2896819" cy="384048"/>
          </a:xfrm>
          <a:prstGeom prst="rect">
            <a:avLst/>
          </a:prstGeom>
          <a:solidFill>
            <a:srgbClr val="141416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cadastro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77179" y="34838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telemarketing devolve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4050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Primeiros pedidos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4050792"/>
            <a:ext cx="1975104" cy="384048"/>
          </a:xfrm>
          <a:prstGeom prst="rect">
            <a:avLst/>
          </a:prstGeom>
          <a:solidFill>
            <a:srgbClr val="E10600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+ ticket do 1º pedido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55464" y="4050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confirma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4617720"/>
            <a:ext cx="1316736" cy="384048"/>
          </a:xfrm>
          <a:prstGeom prst="rect">
            <a:avLst/>
          </a:prstGeom>
          <a:solidFill>
            <a:srgbClr val="E10600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· retenção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97096" y="4617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confirma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Instrumentação: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de WhatsApp pré-preenchida com código por campanha · planilha de devolutiva preenchida pelo telemarketing · cruzamento mensal com ERP (WinThor/Máxima). Rotina sugerida (a validar): otimização semanal interna, reunião quinzenal no 1º trimestre, relatório mensal consolidado.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RISCOS E DEPENDÊNCIAS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condições fora da mídia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decidem o resultado</a:t>
            </a:r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mídia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87496" cy="2057400"/>
          </a:xfrm>
          <a:prstGeom prst="roundRect">
            <a:avLst>
              <a:gd name="adj" fmla="val 2222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de novos leads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24–48h para atender novos contatos derruba a conversão. Lead digital esfria em horas.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0728" y="1783080"/>
            <a:ext cx="3587496" cy="2057400"/>
          </a:xfrm>
          <a:prstGeom prst="roundRect">
            <a:avLst>
              <a:gd name="adj" fmla="val 2222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Devolutiva comercial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retorno de cadastros, pedidos e valores, não existe CAC — só custo por conversa.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52816" y="1783080"/>
            <a:ext cx="3587496" cy="2057400"/>
          </a:xfrm>
          <a:prstGeom prst="roundRect">
            <a:avLst>
              <a:gd name="adj" fmla="val 2222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OPERACIONAL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Ofertas dinâmicas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Preços mudam diariamente; dependemos do aviso do Victor para pausar/ajustar anúncios.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4005072"/>
            <a:ext cx="3587496" cy="2057400"/>
          </a:xfrm>
          <a:prstGeom prst="roundRect">
            <a:avLst>
              <a:gd name="adj" fmla="val 2222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OPERACIONAL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criativa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 com o Ítalo: solicitações em planejamento semanal, urgências em ~24h.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0728" y="4005072"/>
            <a:ext cx="3587496" cy="2057400"/>
          </a:xfrm>
          <a:prstGeom prst="roundRect">
            <a:avLst>
              <a:gd name="adj" fmla="val 2222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ESTRUTURAL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fora do jogo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é o único destino até revisão de segurança, formulário e tracking do site.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52816" y="4005072"/>
            <a:ext cx="3587496" cy="2057400"/>
          </a:xfrm>
          <a:prstGeom prst="roundRect">
            <a:avLst>
              <a:gd name="adj" fmla="val 2222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ESTRUTURAL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Separação da Mega Cestas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Contas, públicos e dados 100% apartados para não contaminar posicionamento e remarketing.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PROJEÇÃO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cenários possíveis —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estimativas</a:t>
            </a:r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garantias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87496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000" b="1" spc="200" kern="0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CONSERVADOR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pedidos/mês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Conversas ~140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qualificados ~50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 ~25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~R$ 331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1º pedido ~R$ 21,6 mil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00728" y="1783080"/>
            <a:ext cx="3587496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22225">
            <a:solidFill>
              <a:srgbClr val="E10600"/>
            </a:solidFill>
          </a:ln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000" b="1" spc="200" kern="0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pedidos/mês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Conversas ~220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qualificados ~90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 ~45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~R$ 181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1º pedido ~R$ 39,6 mil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52816" y="1783080"/>
            <a:ext cx="3587496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E8E5E2"/>
            </a:solidFill>
          </a:ln>
        </p:spPr>
        <p:txBody>
          <a:bodyPr wrap="square" lIns="2032" tIns="2032" rIns="2032" bIns="2032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000" b="1" spc="200" kern="0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OTIMISTA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pedidos/mês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Conversas ~300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qualificados ~130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 ~65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~R$ 124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1º pedido ~R$ 57,6 mil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11091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Premissas: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Search R$ 2,50–4,50 · custo por conversa Meta R$ 8–18 · qualificação 35–50% · cadastro 40–60% dos qualificados · 1º pedido 40–60% dos cadastros · ticket R$ 1.800. Com recompra semanal e retenção ~60%, o run-rate incremental ao fim do trimestre fica entre ~R$ 55 mil e R$ 150 mil/mês. Validar esses números é o objetivo do ciclo V1.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 </a:t>
            </a:r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100</a:t>
            </a:r>
            <a:pPr indent="0" marL="0">
              <a:buNone/>
            </a:pPr>
            <a:r>
              <a:rPr lang="en-US" sz="800" spc="200" kern="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PLANEJAMENTO DE MÍDIA PAGA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DESTA REUNIÃO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definições destravam a </a:t>
            </a:r>
            <a:pPr indent="0" marL="0">
              <a:buNone/>
            </a:pPr>
            <a:r>
              <a:rPr lang="en-US" sz="2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87496" cy="1417320"/>
          </a:xfrm>
          <a:prstGeom prst="roundRect">
            <a:avLst>
              <a:gd name="adj" fmla="val 3226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oficial de WhatsApp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responsável pelo atendimento e SLA de resposta a novos leads.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0728" y="1783080"/>
            <a:ext cx="3587496" cy="1417320"/>
          </a:xfrm>
          <a:prstGeom prst="roundRect">
            <a:avLst>
              <a:gd name="adj" fmla="val 3226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Devolutiva comercial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 sobre a planilha de retorno: leads, cadastros, pedidos e valores.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52816" y="1783080"/>
            <a:ext cx="3587496" cy="1417320"/>
          </a:xfrm>
          <a:prstGeom prst="roundRect">
            <a:avLst>
              <a:gd name="adj" fmla="val 3226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produtos para pizzarias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curva ABC atualizada e ofertas iniciais validadas com Victor.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364992"/>
            <a:ext cx="3587496" cy="1417320"/>
          </a:xfrm>
          <a:prstGeom prst="roundRect">
            <a:avLst>
              <a:gd name="adj" fmla="val 3226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Regiões prioritárias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Cidades pouco atendidas e restrições logísticas para a geossegmentação.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0728" y="3364992"/>
            <a:ext cx="3587496" cy="1417320"/>
          </a:xfrm>
          <a:prstGeom prst="roundRect">
            <a:avLst>
              <a:gd name="adj" fmla="val 3226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inativos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legal (LGPD) e envio seguro para públicos personalizados.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52816" y="3364992"/>
            <a:ext cx="3587496" cy="1417320"/>
          </a:xfrm>
          <a:prstGeom prst="roundRect">
            <a:avLst>
              <a:gd name="adj" fmla="val 3226"/>
            </a:avLst>
          </a:prstGeom>
          <a:solidFill>
            <a:srgbClr val="F7F5F3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e reuniões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fases, entregáveis e a periodicidade quinzenal proposta.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4348"/>
            </a:avLst>
          </a:prstGeom>
          <a:solidFill>
            <a:srgbClr val="FBEBE9"/>
          </a:solidFill>
          <a:ln w="9525">
            <a:solidFill>
              <a:srgbClr val="E8E5E2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criativo com Ítalo</a:t>
            </a:r>
            <a:endParaRPr lang="en-US" sz="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Formatos, variações e regras de oferta do primeiro kit de anúncios — solicitação em planejamento semanal.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2026-08-11T20:32:22Z</dcterms:created>
  <dcterms:modified xsi:type="dcterms:W3CDTF">2026-08-11T20:32:22Z</dcterms:modified>
</cp:coreProperties>
</file>